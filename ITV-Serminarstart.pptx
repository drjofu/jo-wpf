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4"/>
  </p:notesMasterIdLst>
  <p:handoutMasterIdLst>
    <p:handoutMasterId r:id="rId15"/>
  </p:handoutMasterIdLst>
  <p:sldIdLst>
    <p:sldId id="257" r:id="rId2"/>
    <p:sldId id="278" r:id="rId3"/>
    <p:sldId id="274" r:id="rId4"/>
    <p:sldId id="292" r:id="rId5"/>
    <p:sldId id="285" r:id="rId6"/>
    <p:sldId id="298" r:id="rId7"/>
    <p:sldId id="299" r:id="rId8"/>
    <p:sldId id="296" r:id="rId9"/>
    <p:sldId id="283" r:id="rId10"/>
    <p:sldId id="268" r:id="rId11"/>
    <p:sldId id="269" r:id="rId12"/>
    <p:sldId id="286" r:id="rId13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B4E7"/>
    <a:srgbClr val="C8E8F7"/>
    <a:srgbClr val="009DDF"/>
    <a:srgbClr val="82CEEF"/>
    <a:srgbClr val="FFCC66"/>
    <a:srgbClr val="FFFF99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74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223"/>
        <p:guide pos="223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93" tIns="48247" rIns="96493" bIns="48247" numCol="1" anchor="t" anchorCtr="0" compatLnSpc="1">
            <a:prstTxWarp prst="textNoShape">
              <a:avLst/>
            </a:prstTxWarp>
          </a:bodyPr>
          <a:lstStyle>
            <a:lvl1pPr defTabSz="965200">
              <a:defRPr sz="1300">
                <a:solidFill>
                  <a:schemeClr val="tx1"/>
                </a:solidFill>
                <a:effectLst/>
                <a:latin typeface="Arial" charset="0"/>
              </a:defRPr>
            </a:lvl1pPr>
          </a:lstStyle>
          <a:p>
            <a:pPr>
              <a:defRPr/>
            </a:pPr>
            <a:r>
              <a:rPr lang="de-DE"/>
              <a:t>Weitergabe oder Vervielfältigung nur mit Genehmigung des Autors</a:t>
            </a:r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93" tIns="48247" rIns="96493" bIns="48247" numCol="1" anchor="b" anchorCtr="0" compatLnSpc="1">
            <a:prstTxWarp prst="textNoShape">
              <a:avLst/>
            </a:prstTxWarp>
          </a:bodyPr>
          <a:lstStyle>
            <a:lvl1pPr defTabSz="965200">
              <a:defRPr sz="1300">
                <a:solidFill>
                  <a:schemeClr val="tx1"/>
                </a:solidFill>
                <a:effectLst/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9550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93" tIns="48247" rIns="96493" bIns="48247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solidFill>
                  <a:schemeClr val="tx1"/>
                </a:solidFill>
                <a:effectLst/>
                <a:latin typeface="Arial" charset="0"/>
              </a:defRPr>
            </a:lvl1pPr>
          </a:lstStyle>
          <a:p>
            <a:pPr>
              <a:defRPr/>
            </a:pPr>
            <a:fld id="{89F6080D-010B-4BB8-A880-C44531D4C9A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pic>
        <p:nvPicPr>
          <p:cNvPr id="23557" name="Picture 6" descr="logo_v6-nam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713" y="61913"/>
            <a:ext cx="18446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6007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93" tIns="48247" rIns="96493" bIns="48247" numCol="1" anchor="t" anchorCtr="0" compatLnSpc="1">
            <a:prstTxWarp prst="textNoShape">
              <a:avLst/>
            </a:prstTxWarp>
          </a:bodyPr>
          <a:lstStyle>
            <a:lvl1pPr defTabSz="965200">
              <a:defRPr sz="1300">
                <a:solidFill>
                  <a:schemeClr val="tx1"/>
                </a:solidFill>
                <a:effectLst/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955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93" tIns="48247" rIns="96493" bIns="48247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solidFill>
                  <a:schemeClr val="tx1"/>
                </a:solidFill>
                <a:effectLst/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93" tIns="48247" rIns="96493" bIns="482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93" tIns="48247" rIns="96493" bIns="48247" numCol="1" anchor="b" anchorCtr="0" compatLnSpc="1">
            <a:prstTxWarp prst="textNoShape">
              <a:avLst/>
            </a:prstTxWarp>
          </a:bodyPr>
          <a:lstStyle>
            <a:lvl1pPr defTabSz="965200">
              <a:defRPr sz="1300">
                <a:solidFill>
                  <a:schemeClr val="tx1"/>
                </a:solidFill>
                <a:effectLst/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9550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93" tIns="48247" rIns="96493" bIns="48247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solidFill>
                  <a:schemeClr val="tx1"/>
                </a:solidFill>
                <a:effectLst/>
                <a:latin typeface="Arial" charset="0"/>
              </a:defRPr>
            </a:lvl1pPr>
          </a:lstStyle>
          <a:p>
            <a:pPr>
              <a:defRPr/>
            </a:pPr>
            <a:fld id="{0C6D6275-D5B4-459A-B2A3-212CA60D230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71972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1pPr>
            <a:lvl2pPr marL="742950" indent="-285750" defTabSz="965200" eaLnBrk="0" hangingPunct="0"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2pPr>
            <a:lvl3pPr marL="1143000" indent="-228600" defTabSz="965200" eaLnBrk="0" hangingPunct="0"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3pPr>
            <a:lvl4pPr marL="1600200" indent="-228600" defTabSz="965200" eaLnBrk="0" hangingPunct="0"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4pPr>
            <a:lvl5pPr marL="2057400" indent="-228600" defTabSz="965200" eaLnBrk="0" hangingPunct="0"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9pPr>
          </a:lstStyle>
          <a:p>
            <a:pPr eaLnBrk="1" hangingPunct="1"/>
            <a:fld id="{84B3F10F-94DA-410C-8AD3-F7390AD3F223}" type="slidenum">
              <a:rPr lang="de-DE" sz="1300" smtClean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1</a:t>
            </a:fld>
            <a:endParaRPr lang="de-DE" sz="130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3293785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94" tIns="49497" rIns="98994" bIns="4949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2055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3092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 txBox="1">
            <a:spLocks noGrp="1" noChangeArrowheads="1"/>
          </p:cNvSpPr>
          <p:nvPr/>
        </p:nvSpPr>
        <p:spPr bwMode="auto">
          <a:xfrm>
            <a:off x="4021138" y="9718675"/>
            <a:ext cx="30765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94" tIns="49497" rIns="98994" bIns="49497" anchor="b"/>
          <a:lstStyle>
            <a:lvl1pPr defTabSz="990600" eaLnBrk="0" hangingPunct="0"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1pPr>
            <a:lvl2pPr marL="742950" indent="-285750" defTabSz="990600" eaLnBrk="0" hangingPunct="0"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2pPr>
            <a:lvl3pPr marL="1143000" indent="-228600" defTabSz="990600" eaLnBrk="0" hangingPunct="0"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3pPr>
            <a:lvl4pPr marL="1600200" indent="-228600" defTabSz="990600" eaLnBrk="0" hangingPunct="0"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4pPr>
            <a:lvl5pPr marL="2057400" indent="-228600" defTabSz="990600" eaLnBrk="0" hangingPunct="0"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9pPr>
          </a:lstStyle>
          <a:p>
            <a:pPr algn="r" eaLnBrk="1" hangingPunct="1"/>
            <a:fld id="{CC4DE4CF-8B04-4D56-846E-6FA7101E214F}" type="slidenum">
              <a:rPr lang="de-DE" sz="130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5</a:t>
            </a:fld>
            <a:endParaRPr lang="de-DE" sz="130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40163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4860925"/>
            <a:ext cx="56769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94" tIns="49497" rIns="98994" bIns="49497"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0845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7"/>
          <p:cNvSpPr txBox="1">
            <a:spLocks noGrp="1" noChangeArrowheads="1"/>
          </p:cNvSpPr>
          <p:nvPr/>
        </p:nvSpPr>
        <p:spPr bwMode="auto">
          <a:xfrm>
            <a:off x="4021138" y="9718675"/>
            <a:ext cx="30765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94" tIns="49497" rIns="98994" bIns="49497" anchor="b"/>
          <a:lstStyle>
            <a:lvl1pPr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C7325426-BB6C-4598-A324-3B2CFD7D0EFE}" type="slidenum">
              <a:rPr lang="de-DE" sz="1300"/>
              <a:pPr algn="r" eaLnBrk="1" hangingPunct="1"/>
              <a:t>6</a:t>
            </a:fld>
            <a:endParaRPr lang="de-DE" sz="1300"/>
          </a:p>
        </p:txBody>
      </p:sp>
      <p:sp>
        <p:nvSpPr>
          <p:cNvPr id="265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670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7"/>
          <p:cNvSpPr txBox="1">
            <a:spLocks noGrp="1" noChangeArrowheads="1"/>
          </p:cNvSpPr>
          <p:nvPr/>
        </p:nvSpPr>
        <p:spPr bwMode="auto">
          <a:xfrm>
            <a:off x="4021138" y="9718675"/>
            <a:ext cx="30765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94" tIns="49497" rIns="98994" bIns="49497" anchor="b"/>
          <a:lstStyle>
            <a:lvl1pPr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C7325426-BB6C-4598-A324-3B2CFD7D0EFE}" type="slidenum">
              <a:rPr lang="de-DE" sz="1300"/>
              <a:pPr algn="r" eaLnBrk="1" hangingPunct="1"/>
              <a:t>7</a:t>
            </a:fld>
            <a:endParaRPr lang="de-DE" sz="1300"/>
          </a:p>
        </p:txBody>
      </p:sp>
      <p:sp>
        <p:nvSpPr>
          <p:cNvPr id="265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670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7"/>
          <p:cNvSpPr txBox="1">
            <a:spLocks noGrp="1" noChangeArrowheads="1"/>
          </p:cNvSpPr>
          <p:nvPr/>
        </p:nvSpPr>
        <p:spPr bwMode="auto">
          <a:xfrm>
            <a:off x="4021138" y="9718675"/>
            <a:ext cx="30765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94" tIns="49497" rIns="98994" bIns="49497" anchor="b"/>
          <a:lstStyle>
            <a:lvl1pPr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C7325426-BB6C-4598-A324-3B2CFD7D0EFE}" type="slidenum">
              <a:rPr lang="de-DE" sz="1300"/>
              <a:pPr algn="r" eaLnBrk="1" hangingPunct="1"/>
              <a:t>8</a:t>
            </a:fld>
            <a:endParaRPr lang="de-DE" sz="1300"/>
          </a:p>
        </p:txBody>
      </p:sp>
      <p:sp>
        <p:nvSpPr>
          <p:cNvPr id="265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68006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9FDFA7D-ADE3-49E3-B94D-45D24EE9C6BD}" type="slidenum">
              <a:rPr lang="de-DE" sz="1300" smtClean="0"/>
              <a:pPr eaLnBrk="1" hangingPunct="1"/>
              <a:t>9</a:t>
            </a:fld>
            <a:endParaRPr lang="de-DE" sz="1300"/>
          </a:p>
        </p:txBody>
      </p:sp>
      <p:sp>
        <p:nvSpPr>
          <p:cNvPr id="277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7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41135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40163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4860925"/>
            <a:ext cx="56769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94" tIns="49497" rIns="98994" bIns="4949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76053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 noChangeArrowheads="1"/>
          </p:cNvSpPr>
          <p:nvPr/>
        </p:nvSpPr>
        <p:spPr bwMode="auto">
          <a:xfrm>
            <a:off x="4021138" y="9718675"/>
            <a:ext cx="30765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94" tIns="49497" rIns="98994" bIns="49497" anchor="b"/>
          <a:lstStyle>
            <a:lvl1pPr defTabSz="990600" eaLnBrk="0" hangingPunct="0"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1pPr>
            <a:lvl2pPr marL="742950" indent="-285750" defTabSz="990600" eaLnBrk="0" hangingPunct="0"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2pPr>
            <a:lvl3pPr marL="1143000" indent="-228600" defTabSz="990600" eaLnBrk="0" hangingPunct="0"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3pPr>
            <a:lvl4pPr marL="1600200" indent="-228600" defTabSz="990600" eaLnBrk="0" hangingPunct="0"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4pPr>
            <a:lvl5pPr marL="2057400" indent="-228600" defTabSz="990600" eaLnBrk="0" hangingPunct="0"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pitchFamily="34" charset="0"/>
              </a:defRPr>
            </a:lvl9pPr>
          </a:lstStyle>
          <a:p>
            <a:pPr algn="r" eaLnBrk="1" hangingPunct="1"/>
            <a:fld id="{8E83825F-4488-4D6F-93F4-73B5A00161CF}" type="slidenum">
              <a:rPr lang="de-DE" sz="130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11</a:t>
            </a:fld>
            <a:endParaRPr lang="de-DE" sz="130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40163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4860925"/>
            <a:ext cx="56769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94" tIns="49497" rIns="98994" bIns="49497"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14457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 txBox="1">
            <a:spLocks noGrp="1" noChangeArrowheads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eaLnBrk="0" hangingPunct="0"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C266E53A-32C4-49FB-B318-6037B11ECFB9}" type="slidenum">
              <a:rPr lang="de-DE" sz="1300">
                <a:solidFill>
                  <a:schemeClr val="tx1"/>
                </a:solidFill>
                <a:latin typeface="Arial" charset="0"/>
              </a:rPr>
              <a:pPr algn="r">
                <a:spcBef>
                  <a:spcPct val="0"/>
                </a:spcBef>
              </a:pPr>
              <a:t>12</a:t>
            </a:fld>
            <a:endParaRPr lang="de-DE" sz="13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57699" name="Rectangle 7"/>
          <p:cNvSpPr txBox="1">
            <a:spLocks noGrp="1" noChangeArrowheads="1"/>
          </p:cNvSpPr>
          <p:nvPr/>
        </p:nvSpPr>
        <p:spPr bwMode="auto">
          <a:xfrm>
            <a:off x="4021294" y="9719329"/>
            <a:ext cx="3076363" cy="513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67" tIns="49484" rIns="98967" bIns="49484" anchor="b"/>
          <a:lstStyle>
            <a:lvl1pPr eaLnBrk="0" hangingPunct="0"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Lucida Sans" pitchFamily="34" charset="0"/>
                <a:ea typeface="ＭＳ Ｐゴシック" pitchFamily="34" charset="-128"/>
              </a:defRPr>
            </a:lvl9pPr>
          </a:lstStyle>
          <a:p>
            <a:pPr algn="r" eaLnBrk="1" hangingPunct="1"/>
            <a:fld id="{752B91F4-2443-45D6-BFFD-505192474C77}" type="slidenum">
              <a:rPr lang="de-DE" sz="1200" b="1">
                <a:solidFill>
                  <a:schemeClr val="tx1"/>
                </a:solidFill>
                <a:latin typeface="Arial" charset="0"/>
              </a:rPr>
              <a:pPr algn="r" eaLnBrk="1" hangingPunct="1"/>
              <a:t>12</a:t>
            </a:fld>
            <a:endParaRPr lang="de-DE" sz="1200" b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577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3338" cy="3836988"/>
          </a:xfrm>
          <a:ln/>
        </p:spPr>
      </p:sp>
      <p:sp>
        <p:nvSpPr>
          <p:cNvPr id="1577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575" y="4861441"/>
            <a:ext cx="5676153" cy="46055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67" tIns="49484" rIns="98967" bIns="49484"/>
          <a:lstStyle/>
          <a:p>
            <a:endParaRPr lang="de-DE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87201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art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560" y="2498973"/>
            <a:ext cx="7772400" cy="1362075"/>
          </a:xfrm>
          <a:prstGeom prst="rect">
            <a:avLst/>
          </a:prstGeom>
        </p:spPr>
        <p:txBody>
          <a:bodyPr anchor="ctr"/>
          <a:lstStyle>
            <a:lvl1pPr algn="ctr">
              <a:defRPr sz="2800" b="1" cap="none" baseline="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83568" y="4509120"/>
            <a:ext cx="7772400" cy="1500187"/>
          </a:xfrm>
        </p:spPr>
        <p:txBody>
          <a:bodyPr anchor="t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Textplatzhalter 4"/>
          <p:cNvSpPr txBox="1">
            <a:spLocks/>
          </p:cNvSpPr>
          <p:nvPr userDrawn="1"/>
        </p:nvSpPr>
        <p:spPr>
          <a:xfrm>
            <a:off x="4572000" y="6381328"/>
            <a:ext cx="3024336" cy="4046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Dr.</a:t>
            </a:r>
            <a:r>
              <a:rPr lang="de-DE" baseline="0"/>
              <a:t> Joachim Fuchs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5665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560" y="2498973"/>
            <a:ext cx="7772400" cy="1362075"/>
          </a:xfrm>
          <a:prstGeom prst="rect">
            <a:avLst/>
          </a:prstGeom>
          <a:solidFill>
            <a:srgbClr val="009DDF"/>
          </a:solidFill>
        </p:spPr>
        <p:txBody>
          <a:bodyPr anchor="ctr"/>
          <a:lstStyle>
            <a:lvl1pPr algn="ctr"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83568" y="4509120"/>
            <a:ext cx="7772400" cy="1500187"/>
          </a:xfrm>
        </p:spPr>
        <p:txBody>
          <a:bodyPr anchor="t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Textplatzhalter 4"/>
          <p:cNvSpPr txBox="1">
            <a:spLocks/>
          </p:cNvSpPr>
          <p:nvPr userDrawn="1"/>
        </p:nvSpPr>
        <p:spPr>
          <a:xfrm>
            <a:off x="4572000" y="6381328"/>
            <a:ext cx="3024336" cy="4046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Dr. Joachim Fuchs</a:t>
            </a:r>
          </a:p>
        </p:txBody>
      </p:sp>
    </p:spTree>
    <p:extLst>
      <p:ext uri="{BB962C8B-B14F-4D97-AF65-F5344CB8AC3E}">
        <p14:creationId xmlns:p14="http://schemas.microsoft.com/office/powerpoint/2010/main" val="3626368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560" y="2498973"/>
            <a:ext cx="7772400" cy="1362075"/>
          </a:xfrm>
          <a:prstGeom prst="rect">
            <a:avLst/>
          </a:prstGeom>
          <a:solidFill>
            <a:schemeClr val="bg1"/>
          </a:solidFill>
          <a:ln w="76200">
            <a:solidFill>
              <a:srgbClr val="00B0F0"/>
            </a:solidFill>
          </a:ln>
        </p:spPr>
        <p:txBody>
          <a:bodyPr anchor="ctr"/>
          <a:lstStyle>
            <a:lvl1pPr algn="ctr">
              <a:defRPr sz="2800" b="1" cap="none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83568" y="4509120"/>
            <a:ext cx="7772400" cy="1500187"/>
          </a:xfrm>
        </p:spPr>
        <p:txBody>
          <a:bodyPr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Textplatzhalter 4"/>
          <p:cNvSpPr txBox="1">
            <a:spLocks/>
          </p:cNvSpPr>
          <p:nvPr userDrawn="1"/>
        </p:nvSpPr>
        <p:spPr>
          <a:xfrm>
            <a:off x="4572000" y="6381328"/>
            <a:ext cx="3024336" cy="4046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Dr. Joachim Fuchs</a:t>
            </a:r>
          </a:p>
        </p:txBody>
      </p:sp>
    </p:spTree>
    <p:extLst>
      <p:ext uri="{BB962C8B-B14F-4D97-AF65-F5344CB8AC3E}">
        <p14:creationId xmlns:p14="http://schemas.microsoft.com/office/powerpoint/2010/main" val="2057767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4600" y="0"/>
            <a:ext cx="6400800" cy="1052736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1268760"/>
            <a:ext cx="8640960" cy="504056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feld 3"/>
          <p:cNvSpPr txBox="1"/>
          <p:nvPr userDrawn="1"/>
        </p:nvSpPr>
        <p:spPr>
          <a:xfrm>
            <a:off x="4644008" y="6453336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0">
                <a:solidFill>
                  <a:schemeClr val="tx1"/>
                </a:solidFill>
                <a:effectLst/>
              </a:rPr>
              <a:t>Dr. Joachim Fuchs</a:t>
            </a:r>
          </a:p>
        </p:txBody>
      </p:sp>
    </p:spTree>
    <p:extLst>
      <p:ext uri="{BB962C8B-B14F-4D97-AF65-F5344CB8AC3E}">
        <p14:creationId xmlns:p14="http://schemas.microsoft.com/office/powerpoint/2010/main" val="2458965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6400800" cy="900336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51520" y="1340768"/>
            <a:ext cx="4248472" cy="496855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4008" y="1340768"/>
            <a:ext cx="4248472" cy="496855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extfeld 5"/>
          <p:cNvSpPr txBox="1"/>
          <p:nvPr userDrawn="1"/>
        </p:nvSpPr>
        <p:spPr>
          <a:xfrm>
            <a:off x="4644008" y="6453336"/>
            <a:ext cx="266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0">
                <a:solidFill>
                  <a:schemeClr val="tx1"/>
                </a:solidFill>
                <a:effectLst/>
              </a:rPr>
              <a:t>Dr. Joachim Fuchs</a:t>
            </a:r>
          </a:p>
        </p:txBody>
      </p:sp>
    </p:spTree>
    <p:extLst>
      <p:ext uri="{BB962C8B-B14F-4D97-AF65-F5344CB8AC3E}">
        <p14:creationId xmlns:p14="http://schemas.microsoft.com/office/powerpoint/2010/main" val="2256678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6400800" cy="9906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Textfeld 4"/>
          <p:cNvSpPr txBox="1"/>
          <p:nvPr userDrawn="1"/>
        </p:nvSpPr>
        <p:spPr>
          <a:xfrm>
            <a:off x="4644008" y="6453336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0">
                <a:solidFill>
                  <a:schemeClr val="tx1"/>
                </a:solidFill>
                <a:effectLst/>
              </a:rPr>
              <a:t>Dr. Joachim Fuchs</a:t>
            </a:r>
          </a:p>
        </p:txBody>
      </p:sp>
    </p:spTree>
    <p:extLst>
      <p:ext uri="{BB962C8B-B14F-4D97-AF65-F5344CB8AC3E}">
        <p14:creationId xmlns:p14="http://schemas.microsoft.com/office/powerpoint/2010/main" val="3943203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 userDrawn="1"/>
        </p:nvSpPr>
        <p:spPr>
          <a:xfrm>
            <a:off x="4644008" y="645333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0">
                <a:solidFill>
                  <a:schemeClr val="tx1"/>
                </a:solidFill>
                <a:effectLst/>
              </a:rPr>
              <a:t>Dr. Joachim Fuchs</a:t>
            </a:r>
          </a:p>
        </p:txBody>
      </p:sp>
    </p:spTree>
    <p:extLst>
      <p:ext uri="{BB962C8B-B14F-4D97-AF65-F5344CB8AC3E}">
        <p14:creationId xmlns:p14="http://schemas.microsoft.com/office/powerpoint/2010/main" val="3648829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6400800" cy="9906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914400" y="1524000"/>
            <a:ext cx="3924300" cy="4648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91100" y="1524000"/>
            <a:ext cx="3924300" cy="4648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extfeld 5"/>
          <p:cNvSpPr txBox="1"/>
          <p:nvPr userDrawn="1"/>
        </p:nvSpPr>
        <p:spPr>
          <a:xfrm>
            <a:off x="4644008" y="6453336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0">
                <a:solidFill>
                  <a:schemeClr val="tx1"/>
                </a:solidFill>
                <a:effectLst/>
              </a:rPr>
              <a:t>Dr. Joachim Fuchs</a:t>
            </a:r>
          </a:p>
        </p:txBody>
      </p:sp>
    </p:spTree>
    <p:extLst>
      <p:ext uri="{BB962C8B-B14F-4D97-AF65-F5344CB8AC3E}">
        <p14:creationId xmlns:p14="http://schemas.microsoft.com/office/powerpoint/2010/main" val="1439357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47162"/>
          <a:stretch/>
        </p:blipFill>
        <p:spPr>
          <a:xfrm>
            <a:off x="-180528" y="6181925"/>
            <a:ext cx="9577064" cy="676076"/>
          </a:xfrm>
          <a:prstGeom prst="rect">
            <a:avLst/>
          </a:prstGeom>
        </p:spPr>
      </p:pic>
      <p:sp>
        <p:nvSpPr>
          <p:cNvPr id="22" name="Rechteck 21"/>
          <p:cNvSpPr/>
          <p:nvPr userDrawn="1"/>
        </p:nvSpPr>
        <p:spPr bwMode="auto">
          <a:xfrm>
            <a:off x="0" y="6000750"/>
            <a:ext cx="9144000" cy="8572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6980" name="Text Box 4"/>
          <p:cNvSpPr txBox="1">
            <a:spLocks noChangeArrowheads="1"/>
          </p:cNvSpPr>
          <p:nvPr/>
        </p:nvSpPr>
        <p:spPr bwMode="auto">
          <a:xfrm>
            <a:off x="2362200" y="3810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endParaRPr lang="de-DE" sz="2400">
              <a:solidFill>
                <a:schemeClr val="tx1"/>
              </a:solidFill>
              <a:effectLst/>
            </a:endParaRPr>
          </a:p>
        </p:txBody>
      </p:sp>
      <p:sp>
        <p:nvSpPr>
          <p:cNvPr id="126983" name="Rectangle 7"/>
          <p:cNvSpPr>
            <a:spLocks noChangeArrowheads="1"/>
          </p:cNvSpPr>
          <p:nvPr/>
        </p:nvSpPr>
        <p:spPr bwMode="auto">
          <a:xfrm>
            <a:off x="533400" y="76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defRPr/>
            </a:pPr>
            <a:endParaRPr lang="de-DE" sz="1200" i="1">
              <a:solidFill>
                <a:schemeClr val="tx1"/>
              </a:solidFill>
              <a:effectLst/>
            </a:endParaRPr>
          </a:p>
        </p:txBody>
      </p:sp>
      <p:sp>
        <p:nvSpPr>
          <p:cNvPr id="2055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0663" y="1268760"/>
            <a:ext cx="8694737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die Formate des Vorlagentextes zu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6989" name="Text Box 13"/>
          <p:cNvSpPr txBox="1">
            <a:spLocks noChangeArrowheads="1"/>
          </p:cNvSpPr>
          <p:nvPr/>
        </p:nvSpPr>
        <p:spPr bwMode="auto">
          <a:xfrm>
            <a:off x="2362200" y="3810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endParaRPr lang="de-DE" sz="2400">
              <a:solidFill>
                <a:schemeClr val="tx1"/>
              </a:solidFill>
              <a:effectLst/>
            </a:endParaRPr>
          </a:p>
        </p:txBody>
      </p:sp>
      <p:sp>
        <p:nvSpPr>
          <p:cNvPr id="126992" name="Rectangle 16"/>
          <p:cNvSpPr>
            <a:spLocks noChangeArrowheads="1"/>
          </p:cNvSpPr>
          <p:nvPr/>
        </p:nvSpPr>
        <p:spPr bwMode="auto">
          <a:xfrm>
            <a:off x="8001000" y="6453336"/>
            <a:ext cx="914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r>
              <a:rPr lang="en-US" sz="900">
                <a:solidFill>
                  <a:srgbClr val="009DDF"/>
                </a:solidFill>
                <a:effectLst/>
              </a:rPr>
              <a:t>#</a:t>
            </a:r>
            <a:fld id="{51A0501B-877B-477B-A4CF-19CF111160B2}" type="slidenum">
              <a:rPr lang="en-US" sz="900" smtClean="0">
                <a:solidFill>
                  <a:srgbClr val="009DDF"/>
                </a:solidFill>
                <a:effectLst/>
              </a:rPr>
              <a:pPr algn="r" eaLnBrk="0" hangingPunct="0">
                <a:defRPr/>
              </a:pPr>
              <a:t>‹Nr.›</a:t>
            </a:fld>
            <a:endParaRPr lang="en-US" sz="900">
              <a:solidFill>
                <a:srgbClr val="009DDF"/>
              </a:solidFill>
              <a:effectLst/>
              <a:latin typeface="Times New Roman" pitchFamily="18" charset="0"/>
            </a:endParaRPr>
          </a:p>
        </p:txBody>
      </p:sp>
      <p:pic>
        <p:nvPicPr>
          <p:cNvPr id="2058" name="Picture 24" descr="\\MI-SBS\Projekte\IT-Visions\Projekte\200907_Redesign CI\CI-Elemente\20100108_001_Logo.emf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15442"/>
            <a:ext cx="18446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59" name="Gruppieren 37"/>
          <p:cNvGrpSpPr>
            <a:grpSpLocks/>
          </p:cNvGrpSpPr>
          <p:nvPr userDrawn="1"/>
        </p:nvGrpSpPr>
        <p:grpSpPr bwMode="auto">
          <a:xfrm>
            <a:off x="0" y="1052513"/>
            <a:ext cx="9144000" cy="90487"/>
            <a:chOff x="0" y="1267298"/>
            <a:chExt cx="9144000" cy="90000"/>
          </a:xfrm>
        </p:grpSpPr>
        <p:sp>
          <p:nvSpPr>
            <p:cNvPr id="32" name="Rechteck 31"/>
            <p:cNvSpPr/>
            <p:nvPr userDrawn="1"/>
          </p:nvSpPr>
          <p:spPr bwMode="auto">
            <a:xfrm>
              <a:off x="0" y="1267298"/>
              <a:ext cx="2286000" cy="90000"/>
            </a:xfrm>
            <a:prstGeom prst="rect">
              <a:avLst/>
            </a:prstGeom>
            <a:solidFill>
              <a:srgbClr val="009DD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4" name="Rechteck 33"/>
            <p:cNvSpPr/>
            <p:nvPr userDrawn="1"/>
          </p:nvSpPr>
          <p:spPr bwMode="auto">
            <a:xfrm>
              <a:off x="2286000" y="1267298"/>
              <a:ext cx="2286000" cy="90000"/>
            </a:xfrm>
            <a:prstGeom prst="rect">
              <a:avLst/>
            </a:prstGeom>
            <a:solidFill>
              <a:srgbClr val="00B4E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5" name="Rechteck 34"/>
            <p:cNvSpPr/>
            <p:nvPr userDrawn="1"/>
          </p:nvSpPr>
          <p:spPr bwMode="auto">
            <a:xfrm>
              <a:off x="4572000" y="1267298"/>
              <a:ext cx="2286000" cy="90000"/>
            </a:xfrm>
            <a:prstGeom prst="rect">
              <a:avLst/>
            </a:prstGeom>
            <a:solidFill>
              <a:srgbClr val="82CEE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6" name="Rechteck 35"/>
            <p:cNvSpPr/>
            <p:nvPr userDrawn="1"/>
          </p:nvSpPr>
          <p:spPr bwMode="auto">
            <a:xfrm>
              <a:off x="6858000" y="1267298"/>
              <a:ext cx="2286000" cy="90000"/>
            </a:xfrm>
            <a:prstGeom prst="rect">
              <a:avLst/>
            </a:prstGeom>
            <a:solidFill>
              <a:srgbClr val="C8E8F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4" r:id="rId2"/>
    <p:sldLayoutId id="2147483807" r:id="rId3"/>
    <p:sldLayoutId id="2147483803" r:id="rId4"/>
    <p:sldLayoutId id="2147483801" r:id="rId5"/>
    <p:sldLayoutId id="2147483799" r:id="rId6"/>
    <p:sldLayoutId id="2147483805" r:id="rId7"/>
    <p:sldLayoutId id="2147483806" r:id="rId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6.png"/><Relationship Id="rId26" Type="http://schemas.openxmlformats.org/officeDocument/2006/relationships/hyperlink" Target="https://www.commerzbank.de/de/hauptnavigation/home/home.html" TargetMode="External"/><Relationship Id="rId3" Type="http://schemas.openxmlformats.org/officeDocument/2006/relationships/image" Target="../media/image4.png"/><Relationship Id="rId21" Type="http://schemas.openxmlformats.org/officeDocument/2006/relationships/image" Target="../media/image18.png"/><Relationship Id="rId7" Type="http://schemas.openxmlformats.org/officeDocument/2006/relationships/hyperlink" Target="http://www.t-com.de/is-bin/INTERSHOP.enfinity/WFS/EKI-TCOM-Site/de_DE/-/EUR/SVCPresentationPipeline-Start;sid=nawbx2y7vNkbxigOk-YRX028MBxgugGKpQUh6AbvAwtaTA==?Page=issite://EKI-TCOM-Site/storefront/home/de_DE/start.page" TargetMode="External"/><Relationship Id="rId12" Type="http://schemas.openxmlformats.org/officeDocument/2006/relationships/hyperlink" Target="http://www.bayer.de/de/Homepage.aspx" TargetMode="External"/><Relationship Id="rId17" Type="http://schemas.openxmlformats.org/officeDocument/2006/relationships/hyperlink" Target="http://www.vodafone.de/privat/index.html" TargetMode="External"/><Relationship Id="rId25" Type="http://schemas.openxmlformats.org/officeDocument/2006/relationships/image" Target="../media/image22.gi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24" Type="http://schemas.openxmlformats.org/officeDocument/2006/relationships/image" Target="../media/image21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23" Type="http://schemas.openxmlformats.org/officeDocument/2006/relationships/image" Target="../media/image20.gif"/><Relationship Id="rId10" Type="http://schemas.openxmlformats.org/officeDocument/2006/relationships/image" Target="../media/image10.png"/><Relationship Id="rId19" Type="http://schemas.openxmlformats.org/officeDocument/2006/relationships/hyperlink" Target="http://www.man.de/MAN/de/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Relationship Id="rId22" Type="http://schemas.openxmlformats.org/officeDocument/2006/relationships/image" Target="../media/image19.jpeg"/><Relationship Id="rId27" Type="http://schemas.openxmlformats.org/officeDocument/2006/relationships/image" Target="../media/image23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13" Type="http://schemas.openxmlformats.org/officeDocument/2006/relationships/image" Target="../media/image33.png"/><Relationship Id="rId3" Type="http://schemas.openxmlformats.org/officeDocument/2006/relationships/image" Target="../media/image25.jpeg"/><Relationship Id="rId7" Type="http://schemas.openxmlformats.org/officeDocument/2006/relationships/hyperlink" Target="http://www.dotnetpro.de/CurrentIssue.aspx" TargetMode="External"/><Relationship Id="rId12" Type="http://schemas.openxmlformats.org/officeDocument/2006/relationships/image" Target="../media/image32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11" Type="http://schemas.openxmlformats.org/officeDocument/2006/relationships/hyperlink" Target="http://it-visions.de/buecher/n45/default.aspx" TargetMode="External"/><Relationship Id="rId5" Type="http://schemas.openxmlformats.org/officeDocument/2006/relationships/image" Target="../media/image27.jpeg"/><Relationship Id="rId10" Type="http://schemas.openxmlformats.org/officeDocument/2006/relationships/image" Target="../media/image31.jpeg"/><Relationship Id="rId4" Type="http://schemas.openxmlformats.org/officeDocument/2006/relationships/image" Target="../media/image26.jpeg"/><Relationship Id="rId9" Type="http://schemas.openxmlformats.org/officeDocument/2006/relationships/image" Target="../media/image3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>
          <a:xfrm>
            <a:off x="179512" y="1340768"/>
            <a:ext cx="8784976" cy="2448272"/>
          </a:xfrm>
        </p:spPr>
        <p:txBody>
          <a:bodyPr/>
          <a:lstStyle/>
          <a:p>
            <a:r>
              <a:rPr lang="de-DE" dirty="0"/>
              <a:t> </a:t>
            </a:r>
            <a:r>
              <a:rPr lang="de-DE" b="0" dirty="0"/>
              <a:t>JENOPTIK Industrial </a:t>
            </a:r>
            <a:r>
              <a:rPr lang="de-DE" b="0" dirty="0" err="1"/>
              <a:t>Metrology</a:t>
            </a:r>
            <a:r>
              <a:rPr lang="de-DE" b="0" dirty="0"/>
              <a:t> Germany GmbH</a:t>
            </a:r>
            <a:br>
              <a:rPr lang="de-DE" dirty="0"/>
            </a:br>
            <a:br>
              <a:rPr lang="en-US" dirty="0"/>
            </a:br>
            <a:r>
              <a:rPr lang="de-DE" dirty="0"/>
              <a:t> WPF</a:t>
            </a:r>
            <a:endParaRPr lang="de-DE" b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Dr. Joachim Fuchs</a:t>
            </a:r>
          </a:p>
          <a:p>
            <a:r>
              <a:rPr lang="de-DE"/>
              <a:t>Softwareentwickler, Trainer, Buchautor</a:t>
            </a:r>
          </a:p>
        </p:txBody>
      </p:sp>
      <p:sp>
        <p:nvSpPr>
          <p:cNvPr id="4099" name="Rectangle 5"/>
          <p:cNvSpPr>
            <a:spLocks noChangeArrowheads="1"/>
          </p:cNvSpPr>
          <p:nvPr/>
        </p:nvSpPr>
        <p:spPr bwMode="auto">
          <a:xfrm>
            <a:off x="0" y="5830888"/>
            <a:ext cx="9144000" cy="9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spcBef>
                <a:spcPct val="20000"/>
              </a:spcBef>
            </a:pPr>
            <a:endParaRPr lang="de-DE">
              <a:solidFill>
                <a:schemeClr val="tx1"/>
              </a:solidFill>
              <a:effectLst/>
            </a:endParaRPr>
          </a:p>
        </p:txBody>
      </p:sp>
      <p:sp>
        <p:nvSpPr>
          <p:cNvPr id="2" name="Rechteck 1"/>
          <p:cNvSpPr/>
          <p:nvPr/>
        </p:nvSpPr>
        <p:spPr bwMode="auto">
          <a:xfrm>
            <a:off x="4572000" y="6309320"/>
            <a:ext cx="2664296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cap="none" normalizeH="0" baseline="0">
                <a:ln>
                  <a:noFill/>
                </a:ln>
                <a:solidFill>
                  <a:srgbClr val="00B4E7"/>
                </a:solidFill>
                <a:effectLst/>
                <a:latin typeface="Tahoma" pitchFamily="34" charset="0"/>
              </a:rPr>
              <a:t>Version 1.0 – 01.01.0001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 bwMode="auto">
          <a:xfrm>
            <a:off x="7380288" y="0"/>
            <a:ext cx="1857375" cy="6858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/>
              <a:t>Über uns www.IT-Visions.de</a:t>
            </a:r>
          </a:p>
        </p:txBody>
      </p:sp>
      <p:sp>
        <p:nvSpPr>
          <p:cNvPr id="26626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de-DE" sz="1600"/>
              <a:t>Expertennetzwerk mit Schwerpunkt auf Microsoft-Produkten:</a:t>
            </a:r>
          </a:p>
          <a:p>
            <a:pPr lvl="1" eaLnBrk="1" hangingPunct="1"/>
            <a:r>
              <a:rPr lang="de-DE" sz="1400"/>
              <a:t>.NET, Silverlight, Mono, Visual Studio, TFS</a:t>
            </a:r>
          </a:p>
          <a:p>
            <a:pPr lvl="1" eaLnBrk="1" hangingPunct="1"/>
            <a:r>
              <a:rPr lang="de-DE" sz="1400"/>
              <a:t>SQL Server, SharePoint, BizTalk, CRM, Windows Azure</a:t>
            </a:r>
          </a:p>
          <a:p>
            <a:pPr lvl="1" eaLnBrk="1" hangingPunct="1"/>
            <a:r>
              <a:rPr lang="de-DE" sz="1400"/>
              <a:t>Windows Client &amp; Server, Exchange Server, </a:t>
            </a:r>
            <a:r>
              <a:rPr lang="de-DE" sz="1400" err="1"/>
              <a:t>PowerShell</a:t>
            </a:r>
            <a:endParaRPr lang="de-DE" sz="1400"/>
          </a:p>
          <a:p>
            <a:pPr lvl="1" eaLnBrk="1" hangingPunct="1"/>
            <a:r>
              <a:rPr lang="de-DE" sz="1400"/>
              <a:t>OOAD, ALM, </a:t>
            </a:r>
            <a:r>
              <a:rPr lang="de-DE" sz="1400" err="1"/>
              <a:t>Scrum</a:t>
            </a:r>
            <a:r>
              <a:rPr lang="de-DE" sz="1400"/>
              <a:t>, Design &amp; </a:t>
            </a:r>
            <a:r>
              <a:rPr lang="de-DE" sz="1400" err="1"/>
              <a:t>Usalibity</a:t>
            </a:r>
            <a:r>
              <a:rPr lang="de-DE" sz="1400"/>
              <a:t>, Java, MySQL, Oracle, SAP</a:t>
            </a:r>
          </a:p>
          <a:p>
            <a:pPr eaLnBrk="1" hangingPunct="1"/>
            <a:r>
              <a:rPr lang="de-DE" sz="1600"/>
              <a:t>Gegründet 1996</a:t>
            </a:r>
          </a:p>
          <a:p>
            <a:pPr eaLnBrk="1" hangingPunct="1"/>
            <a:r>
              <a:rPr lang="de-DE" sz="1600"/>
              <a:t>Geleitet von Dr. Holger Schwichtenberg (MVP)</a:t>
            </a:r>
          </a:p>
          <a:p>
            <a:pPr eaLnBrk="1" hangingPunct="1"/>
            <a:r>
              <a:rPr lang="de-DE" sz="1600"/>
              <a:t>Rund 15 Top-Experten mit sehr viel Praxiserfahrung</a:t>
            </a:r>
            <a:br>
              <a:rPr lang="de-DE" sz="1600"/>
            </a:br>
            <a:r>
              <a:rPr lang="de-DE" sz="1600"/>
              <a:t>(viele davon Buchautoren, Konferenzredner, MVPs)</a:t>
            </a:r>
          </a:p>
          <a:p>
            <a:pPr eaLnBrk="1" hangingPunct="1"/>
            <a:r>
              <a:rPr lang="de-DE" sz="1600"/>
              <a:t>Tätigkeiten</a:t>
            </a:r>
          </a:p>
          <a:p>
            <a:pPr lvl="1" eaLnBrk="1" hangingPunct="1"/>
            <a:r>
              <a:rPr lang="de-DE" sz="1400"/>
              <a:t>Softwareentwicklung</a:t>
            </a:r>
          </a:p>
          <a:p>
            <a:pPr lvl="1" eaLnBrk="1" hangingPunct="1"/>
            <a:r>
              <a:rPr lang="de-DE" sz="1400"/>
              <a:t>Strategische und technische Beratung </a:t>
            </a:r>
          </a:p>
          <a:p>
            <a:pPr lvl="1" eaLnBrk="1" hangingPunct="1"/>
            <a:r>
              <a:rPr lang="de-DE" sz="1400"/>
              <a:t>Individuelle, maßgeschneiderte technische Schulungen </a:t>
            </a:r>
          </a:p>
          <a:p>
            <a:pPr lvl="1" eaLnBrk="1" hangingPunct="1"/>
            <a:r>
              <a:rPr lang="de-DE" sz="1400"/>
              <a:t>Strategie-Vorträge (Management-Level) </a:t>
            </a:r>
          </a:p>
          <a:p>
            <a:pPr lvl="1" eaLnBrk="1" hangingPunct="1"/>
            <a:r>
              <a:rPr lang="de-DE" sz="1400"/>
              <a:t>Coaching bei Entwicklungsprojekten und Prototyp-Workshops </a:t>
            </a:r>
          </a:p>
          <a:p>
            <a:pPr lvl="1" eaLnBrk="1" hangingPunct="1"/>
            <a:r>
              <a:rPr lang="de-DE" sz="1400"/>
              <a:t>Support (Telefon/Online)</a:t>
            </a:r>
          </a:p>
          <a:p>
            <a:pPr eaLnBrk="1" hangingPunct="1"/>
            <a:r>
              <a:rPr lang="de-DE" sz="1700"/>
              <a:t>Weitere Informationen:</a:t>
            </a:r>
          </a:p>
          <a:p>
            <a:pPr lvl="1" eaLnBrk="1" hangingPunct="1"/>
            <a:r>
              <a:rPr lang="de-DE" sz="1400"/>
              <a:t>www.IT-Visions.de</a:t>
            </a:r>
          </a:p>
          <a:p>
            <a:pPr lvl="1" eaLnBrk="1" hangingPunct="1">
              <a:buFontTx/>
              <a:buNone/>
            </a:pPr>
            <a:endParaRPr lang="de-DE" sz="1400"/>
          </a:p>
          <a:p>
            <a:pPr lvl="1" eaLnBrk="1" hangingPunct="1"/>
            <a:endParaRPr lang="de-DE" sz="1400"/>
          </a:p>
          <a:p>
            <a:pPr lvl="1" eaLnBrk="1" hangingPunct="1"/>
            <a:endParaRPr lang="de-DE" sz="1600"/>
          </a:p>
          <a:p>
            <a:pPr lvl="1" eaLnBrk="1" hangingPunct="1">
              <a:buFontTx/>
              <a:buNone/>
            </a:pPr>
            <a:endParaRPr lang="de-DE" sz="1600" b="1"/>
          </a:p>
        </p:txBody>
      </p:sp>
      <p:pic>
        <p:nvPicPr>
          <p:cNvPr id="26629" name="Picture 11" descr="Carl Zeis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3356992"/>
            <a:ext cx="611188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0" t="81000" r="21628" b="2000"/>
          <a:stretch>
            <a:fillRect/>
          </a:stretch>
        </p:blipFill>
        <p:spPr bwMode="auto">
          <a:xfrm>
            <a:off x="7452320" y="980728"/>
            <a:ext cx="17287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3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446" y="620688"/>
            <a:ext cx="1032639" cy="27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2" name="Picture 5" descr="Siemen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43"/>
          <a:stretch>
            <a:fillRect/>
          </a:stretch>
        </p:blipFill>
        <p:spPr bwMode="auto">
          <a:xfrm>
            <a:off x="7559675" y="332656"/>
            <a:ext cx="1235075" cy="225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3" name="Rectangle 13"/>
          <p:cNvSpPr>
            <a:spLocks noChangeArrowheads="1"/>
          </p:cNvSpPr>
          <p:nvPr/>
        </p:nvSpPr>
        <p:spPr bwMode="auto">
          <a:xfrm>
            <a:off x="7380289" y="0"/>
            <a:ext cx="1871662" cy="285750"/>
          </a:xfrm>
          <a:prstGeom prst="rect">
            <a:avLst/>
          </a:prstGeom>
          <a:solidFill>
            <a:srgbClr val="00B0F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de-DE" sz="1400">
                <a:effectLst/>
              </a:rPr>
              <a:t>Kundenbeispiele</a:t>
            </a:r>
          </a:p>
        </p:txBody>
      </p:sp>
      <p:pic>
        <p:nvPicPr>
          <p:cNvPr id="26634" name="Picture 20" descr="T-Com Startseite">
            <a:hlinkClick r:id="rId7" tooltip="T-Com Startseite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6850"/>
          <a:stretch>
            <a:fillRect/>
          </a:stretch>
        </p:blipFill>
        <p:spPr bwMode="auto">
          <a:xfrm>
            <a:off x="7452320" y="1916832"/>
            <a:ext cx="935038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5" name="Picture 33" descr="Festo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0172" y="4077072"/>
            <a:ext cx="1202308" cy="224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6" name="Picture 2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688" y="4797152"/>
            <a:ext cx="1503362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7" name="Picture 7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3157" y="4437112"/>
            <a:ext cx="10572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8" name="Picture 82" descr="Bayer AG">
            <a:hlinkClick r:id="rId12"/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0" y="5589240"/>
            <a:ext cx="115252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0" name="Picture 51" descr="draeger_logo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0" y="6099324"/>
            <a:ext cx="107950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1" name="Picture 6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738" y="1340768"/>
            <a:ext cx="76517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2" name="Picture 61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925" y="1268760"/>
            <a:ext cx="6191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3" name="Picture 10" descr="vlogo">
            <a:hlinkClick r:id="rId17"/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22" b="11436"/>
          <a:stretch>
            <a:fillRect/>
          </a:stretch>
        </p:blipFill>
        <p:spPr bwMode="auto">
          <a:xfrm>
            <a:off x="7668344" y="2492896"/>
            <a:ext cx="1178619" cy="371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4" name="Picture 58" descr="logo">
            <a:hlinkClick r:id="rId19"/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666" y="3429000"/>
            <a:ext cx="910838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1844824"/>
            <a:ext cx="1629768" cy="202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085" name="Picture 5" descr="http://www.xginsider.com/wp-content/uploads/2010/07/HP-logo.jpg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3239" y="2060848"/>
            <a:ext cx="605265" cy="382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87" name="Picture 7" descr="WestLB Portal Logo"/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8" b="14995"/>
          <a:stretch/>
        </p:blipFill>
        <p:spPr bwMode="auto">
          <a:xfrm>
            <a:off x="7600454" y="5206726"/>
            <a:ext cx="1333500" cy="43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96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6598" y="4428151"/>
            <a:ext cx="672108" cy="370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102" descr="http://www.weltenstreicher.de/wp-content/gallery/sonstige/logo_fielmann.gif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950" y="2924944"/>
            <a:ext cx="1205825" cy="36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91" name="Picture 11" descr="Commerzbank">
            <a:hlinkClick r:id="rId26" tooltip="Zur Commerzbank Webseite"/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72" t="1" b="-1"/>
          <a:stretch/>
        </p:blipFill>
        <p:spPr bwMode="auto">
          <a:xfrm>
            <a:off x="7452320" y="6511855"/>
            <a:ext cx="1648445" cy="21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34836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Referentenvorstellung</a:t>
            </a:r>
          </a:p>
        </p:txBody>
      </p:sp>
      <p:sp>
        <p:nvSpPr>
          <p:cNvPr id="512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Dr. Joachim Fuchs</a:t>
            </a:r>
          </a:p>
          <a:p>
            <a:r>
              <a:rPr lang="de-DE"/>
              <a:t>Studium Elektrotechnik, Schwerpunkt Technische Informatik, RWTH Aachen</a:t>
            </a:r>
          </a:p>
          <a:p>
            <a:r>
              <a:rPr lang="de-DE"/>
              <a:t>Themengebiete im .NET-Umfeld</a:t>
            </a:r>
          </a:p>
          <a:p>
            <a:pPr lvl="1"/>
            <a:r>
              <a:rPr lang="de-DE"/>
              <a:t>Softwareentwicklung</a:t>
            </a:r>
          </a:p>
          <a:p>
            <a:pPr lvl="1"/>
            <a:r>
              <a:rPr lang="de-DE"/>
              <a:t>Schulungen</a:t>
            </a:r>
          </a:p>
          <a:p>
            <a:pPr lvl="1"/>
            <a:r>
              <a:rPr lang="de-DE"/>
              <a:t>Beratungen</a:t>
            </a:r>
          </a:p>
          <a:p>
            <a:pPr lvl="1"/>
            <a:r>
              <a:rPr lang="de-DE"/>
              <a:t>Fachbücher und Artikel in Fachzeitschriften</a:t>
            </a:r>
          </a:p>
          <a:p>
            <a:r>
              <a:rPr lang="de-DE"/>
              <a:t>E-Mail: </a:t>
            </a:r>
          </a:p>
          <a:p>
            <a:pPr lvl="1"/>
            <a:r>
              <a:rPr lang="de-DE"/>
              <a:t>J.fuchs@it-visions.de</a:t>
            </a:r>
          </a:p>
          <a:p>
            <a:pPr lvl="1"/>
            <a:r>
              <a:rPr lang="de-DE"/>
              <a:t>buero@fuechse-online.de</a:t>
            </a:r>
          </a:p>
          <a:p>
            <a:r>
              <a:rPr lang="de-DE"/>
              <a:t>Web: </a:t>
            </a:r>
          </a:p>
          <a:p>
            <a:pPr lvl="1"/>
            <a:r>
              <a:rPr lang="de-DE"/>
              <a:t>www.fuechse-online.de</a:t>
            </a:r>
          </a:p>
          <a:p>
            <a:pPr marL="0" indent="0">
              <a:buNone/>
            </a:pPr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Veröffentlichungen</a:t>
            </a:r>
          </a:p>
        </p:txBody>
      </p:sp>
      <p:pic>
        <p:nvPicPr>
          <p:cNvPr id="4" name="Picture 10" descr="dotnetpro 12/200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6586" y="4391047"/>
            <a:ext cx="809625" cy="1114425"/>
          </a:xfrm>
          <a:prstGeom prst="rect">
            <a:avLst/>
          </a:prstGeom>
          <a:noFill/>
        </p:spPr>
      </p:pic>
      <p:pic>
        <p:nvPicPr>
          <p:cNvPr id="5" name="Inhaltsplatzhalter 3" descr="dnp_082008_k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7000900" y="2105031"/>
            <a:ext cx="10795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R:\Mesh\Seminare\VBCB2008g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3744" y="1910887"/>
            <a:ext cx="1912288" cy="1912288"/>
          </a:xfrm>
          <a:prstGeom prst="rect">
            <a:avLst/>
          </a:prstGeom>
          <a:noFill/>
        </p:spPr>
      </p:pic>
      <p:pic>
        <p:nvPicPr>
          <p:cNvPr id="7" name="Picture 3" descr="R:\Mesh\Seminare\AC3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99592" y="4372348"/>
            <a:ext cx="1696264" cy="1696264"/>
          </a:xfrm>
          <a:prstGeom prst="rect">
            <a:avLst/>
          </a:prstGeom>
          <a:noFill/>
        </p:spPr>
      </p:pic>
      <p:pic>
        <p:nvPicPr>
          <p:cNvPr id="8" name="Picture 4" descr="R:\Mesh\Seminare\ASPMC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354148" y="4581127"/>
            <a:ext cx="1021498" cy="1487485"/>
          </a:xfrm>
          <a:prstGeom prst="rect">
            <a:avLst/>
          </a:prstGeom>
          <a:noFill/>
        </p:spPr>
      </p:pic>
      <p:pic>
        <p:nvPicPr>
          <p:cNvPr id="9" name="Picture 6" descr="dotnetpro 02/2009">
            <a:hlinkClick r:id="rId7"/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27102" y="1700807"/>
            <a:ext cx="1169039" cy="1618669"/>
          </a:xfrm>
          <a:prstGeom prst="rect">
            <a:avLst/>
          </a:prstGeom>
          <a:noFill/>
        </p:spPr>
      </p:pic>
      <p:pic>
        <p:nvPicPr>
          <p:cNvPr id="10" name="Picture 8" descr="dotnetpro 07/200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500966" y="3605229"/>
            <a:ext cx="809625" cy="1143001"/>
          </a:xfrm>
          <a:prstGeom prst="rect">
            <a:avLst/>
          </a:prstGeom>
          <a:noFill/>
        </p:spPr>
      </p:pic>
      <p:pic>
        <p:nvPicPr>
          <p:cNvPr id="1028" name="Picture 4" descr="dotnetpro 03/201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990731"/>
            <a:ext cx="123825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uch .NET 4.5 Update, Microsoft Press, Dezember 2012">
            <a:hlinkClick r:id="rId11"/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430" y="1467695"/>
            <a:ext cx="1944216" cy="267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363" y="4401115"/>
            <a:ext cx="1715505" cy="177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48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de-DE"/>
              <a:t>Vorstellungsrunde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419872" y="1268760"/>
            <a:ext cx="5472608" cy="5040560"/>
          </a:xfrm>
        </p:spPr>
        <p:txBody>
          <a:bodyPr/>
          <a:lstStyle/>
          <a:p>
            <a:r>
              <a:rPr lang="de-DE" sz="2800"/>
              <a:t>Wer sind Sie?</a:t>
            </a:r>
          </a:p>
          <a:p>
            <a:r>
              <a:rPr lang="de-DE" sz="2800"/>
              <a:t>Was ist Ihre Tätigkeit hier?</a:t>
            </a:r>
          </a:p>
          <a:p>
            <a:r>
              <a:rPr lang="de-DE" sz="2800"/>
              <a:t>Welche Vorkenntnisse haben Sie (Programmiersprachen, Werkzeuge, .NET)?</a:t>
            </a:r>
          </a:p>
          <a:p>
            <a:r>
              <a:rPr lang="de-DE" sz="2800"/>
              <a:t>Was erwarten Sie von diesem Kurs?</a:t>
            </a:r>
          </a:p>
        </p:txBody>
      </p:sp>
      <p:pic>
        <p:nvPicPr>
          <p:cNvPr id="7172" name="Picture 4" descr="j02330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96752"/>
            <a:ext cx="2907514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007927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/>
              <a:t>Standard-Seminarzeiten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131840" y="1268760"/>
            <a:ext cx="5760640" cy="5040560"/>
          </a:xfrm>
        </p:spPr>
        <p:txBody>
          <a:bodyPr/>
          <a:lstStyle/>
          <a:p>
            <a:pPr algn="ctr">
              <a:lnSpc>
                <a:spcPct val="80000"/>
              </a:lnSpc>
            </a:pPr>
            <a:endParaRPr lang="de-DE" dirty="0">
              <a:latin typeface="Tahoma" pitchFamily="34" charset="0"/>
            </a:endParaRPr>
          </a:p>
          <a:p>
            <a:pPr>
              <a:lnSpc>
                <a:spcPct val="80000"/>
              </a:lnSpc>
            </a:pPr>
            <a:r>
              <a:rPr lang="de-DE" sz="3600" dirty="0">
                <a:latin typeface="Tahoma" pitchFamily="34" charset="0"/>
              </a:rPr>
              <a:t>08:00 – 09:45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solidFill>
                  <a:srgbClr val="009DDF"/>
                </a:solidFill>
                <a:latin typeface="Tahoma" pitchFamily="34" charset="0"/>
              </a:rPr>
              <a:t>Pause 15 Minuten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latin typeface="Tahoma" pitchFamily="34" charset="0"/>
              </a:rPr>
              <a:t>10:00 – 12:00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solidFill>
                  <a:srgbClr val="009DDF"/>
                </a:solidFill>
                <a:latin typeface="Tahoma" pitchFamily="34" charset="0"/>
              </a:rPr>
              <a:t>Mittagspause 1 Stunde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latin typeface="Tahoma" pitchFamily="34" charset="0"/>
              </a:rPr>
              <a:t>13:00 – 14:30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solidFill>
                  <a:srgbClr val="009DDF"/>
                </a:solidFill>
                <a:latin typeface="Tahoma" pitchFamily="34" charset="0"/>
              </a:rPr>
              <a:t>Pause 15 Minuten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latin typeface="Tahoma" pitchFamily="34" charset="0"/>
              </a:rPr>
              <a:t>14:45 – 16:00</a:t>
            </a:r>
          </a:p>
          <a:p>
            <a:pPr marL="0" indent="0">
              <a:lnSpc>
                <a:spcPct val="80000"/>
              </a:lnSpc>
              <a:buNone/>
            </a:pPr>
            <a:endParaRPr lang="de-DE" dirty="0">
              <a:latin typeface="Tahoma" pitchFamily="34" charset="0"/>
            </a:endParaRPr>
          </a:p>
          <a:p>
            <a:endParaRPr lang="de-DE" dirty="0"/>
          </a:p>
        </p:txBody>
      </p:sp>
      <p:pic>
        <p:nvPicPr>
          <p:cNvPr id="111619" name="Picture 3" descr="j023413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341438"/>
            <a:ext cx="19526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984832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/>
              <a:t>Standard-Seminarzeiten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131840" y="1268760"/>
            <a:ext cx="5760640" cy="5040560"/>
          </a:xfrm>
        </p:spPr>
        <p:txBody>
          <a:bodyPr/>
          <a:lstStyle/>
          <a:p>
            <a:pPr algn="ctr">
              <a:lnSpc>
                <a:spcPct val="80000"/>
              </a:lnSpc>
            </a:pPr>
            <a:endParaRPr lang="de-DE" dirty="0">
              <a:latin typeface="Tahoma" pitchFamily="34" charset="0"/>
            </a:endParaRPr>
          </a:p>
          <a:p>
            <a:pPr>
              <a:lnSpc>
                <a:spcPct val="80000"/>
              </a:lnSpc>
            </a:pPr>
            <a:r>
              <a:rPr lang="de-DE" sz="3600" dirty="0">
                <a:latin typeface="Tahoma" pitchFamily="34" charset="0"/>
              </a:rPr>
              <a:t>09:00 – 10:30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solidFill>
                  <a:srgbClr val="009DDF"/>
                </a:solidFill>
                <a:latin typeface="Tahoma" pitchFamily="34" charset="0"/>
              </a:rPr>
              <a:t>Pause 15 Minuten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latin typeface="Tahoma" pitchFamily="34" charset="0"/>
              </a:rPr>
              <a:t>10:45 – 12:15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solidFill>
                  <a:srgbClr val="009DDF"/>
                </a:solidFill>
                <a:latin typeface="Tahoma" pitchFamily="34" charset="0"/>
              </a:rPr>
              <a:t>Mittagspause 1 Stunde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latin typeface="Tahoma" pitchFamily="34" charset="0"/>
              </a:rPr>
              <a:t>13:15 – 14:45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solidFill>
                  <a:srgbClr val="009DDF"/>
                </a:solidFill>
                <a:latin typeface="Tahoma" pitchFamily="34" charset="0"/>
              </a:rPr>
              <a:t>Pause 15 Minuten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latin typeface="Tahoma" pitchFamily="34" charset="0"/>
              </a:rPr>
              <a:t>15:00 – 16:30</a:t>
            </a:r>
          </a:p>
          <a:p>
            <a:pPr marL="0" indent="0">
              <a:lnSpc>
                <a:spcPct val="80000"/>
              </a:lnSpc>
              <a:buNone/>
            </a:pPr>
            <a:endParaRPr lang="de-DE" dirty="0">
              <a:latin typeface="Tahoma" pitchFamily="34" charset="0"/>
            </a:endParaRPr>
          </a:p>
          <a:p>
            <a:endParaRPr lang="de-DE" dirty="0"/>
          </a:p>
        </p:txBody>
      </p:sp>
      <p:pic>
        <p:nvPicPr>
          <p:cNvPr id="111619" name="Picture 3" descr="j023413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341438"/>
            <a:ext cx="19526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993761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/>
              <a:t>Standard-Seminarzeiten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131840" y="1268760"/>
            <a:ext cx="5760640" cy="5040560"/>
          </a:xfrm>
        </p:spPr>
        <p:txBody>
          <a:bodyPr/>
          <a:lstStyle/>
          <a:p>
            <a:pPr algn="ctr">
              <a:lnSpc>
                <a:spcPct val="80000"/>
              </a:lnSpc>
            </a:pPr>
            <a:endParaRPr lang="de-DE" dirty="0">
              <a:latin typeface="Tahoma" pitchFamily="34" charset="0"/>
            </a:endParaRPr>
          </a:p>
          <a:p>
            <a:pPr>
              <a:lnSpc>
                <a:spcPct val="80000"/>
              </a:lnSpc>
            </a:pPr>
            <a:r>
              <a:rPr lang="de-DE" sz="3600" dirty="0">
                <a:latin typeface="Tahoma" pitchFamily="34" charset="0"/>
              </a:rPr>
              <a:t>08:30 – 10:00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solidFill>
                  <a:srgbClr val="009DDF"/>
                </a:solidFill>
                <a:latin typeface="Tahoma" pitchFamily="34" charset="0"/>
              </a:rPr>
              <a:t>Pause 15 Minuten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latin typeface="Tahoma" pitchFamily="34" charset="0"/>
              </a:rPr>
              <a:t>10:15 – 12:00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solidFill>
                  <a:srgbClr val="009DDF"/>
                </a:solidFill>
                <a:latin typeface="Tahoma" pitchFamily="34" charset="0"/>
              </a:rPr>
              <a:t>Mittagspause 1 Stunde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latin typeface="Tahoma" pitchFamily="34" charset="0"/>
              </a:rPr>
              <a:t>13:00 – 14:30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solidFill>
                  <a:srgbClr val="009DDF"/>
                </a:solidFill>
                <a:latin typeface="Tahoma" pitchFamily="34" charset="0"/>
              </a:rPr>
              <a:t>Pause 15 Minuten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latin typeface="Tahoma" pitchFamily="34" charset="0"/>
              </a:rPr>
              <a:t>14:45 – 16:30</a:t>
            </a:r>
          </a:p>
          <a:p>
            <a:pPr>
              <a:lnSpc>
                <a:spcPct val="80000"/>
              </a:lnSpc>
            </a:pPr>
            <a:r>
              <a:rPr lang="de-DE" sz="3600" dirty="0">
                <a:latin typeface="Tahoma" pitchFamily="34" charset="0"/>
              </a:rPr>
              <a:t>Freitag Ende:</a:t>
            </a:r>
          </a:p>
          <a:p>
            <a:pPr marL="0" indent="0">
              <a:lnSpc>
                <a:spcPct val="80000"/>
              </a:lnSpc>
              <a:buNone/>
            </a:pPr>
            <a:endParaRPr lang="de-DE" dirty="0">
              <a:latin typeface="Tahoma" pitchFamily="34" charset="0"/>
            </a:endParaRPr>
          </a:p>
          <a:p>
            <a:endParaRPr lang="de-DE" dirty="0"/>
          </a:p>
        </p:txBody>
      </p:sp>
      <p:pic>
        <p:nvPicPr>
          <p:cNvPr id="111619" name="Picture 3" descr="j023413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341438"/>
            <a:ext cx="19526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648138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Schulungs-FAQ</a:t>
            </a:r>
          </a:p>
        </p:txBody>
      </p:sp>
      <p:graphicFrame>
        <p:nvGraphicFramePr>
          <p:cNvPr id="76845" name="Group 4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57019367"/>
              </p:ext>
            </p:extLst>
          </p:nvPr>
        </p:nvGraphicFramePr>
        <p:xfrm>
          <a:off x="323528" y="1340768"/>
          <a:ext cx="8520113" cy="478105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960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4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Folienpräsentation?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Ja 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7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Live-Vorführungen?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Ja, zum Teil Live-Coding!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7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Teilnehmerübungen („Hands On“)?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Ja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Werden alle Folien aus der Sammlung ausführlich besprochen?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Nein. </a:t>
                      </a: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  <a:sym typeface="Wingdings" pitchFamily="2" charset="2"/>
                        </a:rPr>
                        <a:t> Flexibilität, Material zum Nachlesen! 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8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Bekommen wir die Folien?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Ja als PDF-Dokumente (Ausdrucke wurden nicht bestellt)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7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Bekommen wir Codebeispiele?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Live-</a:t>
                      </a:r>
                      <a:r>
                        <a:rPr kumimoji="0" lang="de-DE" sz="1800" u="none" strike="noStrike" cap="none" normalizeH="0" baseline="0" err="1">
                          <a:ln>
                            <a:noFill/>
                          </a:ln>
                          <a:effectLst/>
                        </a:rPr>
                        <a:t>Coding</a:t>
                      </a: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 am Ende per USB-Stick oder E-Mail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68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Zwischenfragen?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Gerne, jederzeit </a:t>
                      </a: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  <a:sym typeface="Wingdings" pitchFamily="2" charset="2"/>
                        </a:rPr>
                        <a:t>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7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Wunschthemen?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Ja (sofern es die Zeit erlaubt!)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9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Zeit für Fragen am Ende?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Ja!</a:t>
                      </a:r>
                    </a:p>
                  </a:txBody>
                  <a:tcPr marT="45726" marB="45726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62077">
                <a:tc>
                  <a:txBody>
                    <a:bodyPr/>
                    <a:lstStyle/>
                    <a:p>
                      <a:r>
                        <a:rPr lang="de-DE"/>
                        <a:t>Zertifikate?</a:t>
                      </a: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r>
                        <a:rPr lang="de-DE"/>
                        <a:t>Der </a:t>
                      </a:r>
                      <a:r>
                        <a:rPr lang="de-DE" err="1"/>
                        <a:t>Beauftrager</a:t>
                      </a:r>
                      <a:r>
                        <a:rPr lang="de-DE"/>
                        <a:t> hat einen Link für die Teilnehmerliste erhalten.</a:t>
                      </a:r>
                    </a:p>
                  </a:txBody>
                  <a:tcPr marT="45726" marB="45726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048143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de-DE"/>
              <a:t>Noch irgendwas unklar?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1268" name="Picture 3" descr="Q&amp;A-slid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1638" y="-1395413"/>
            <a:ext cx="10514013" cy="788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de-DE"/>
              <a:t>Ok, dann: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  <a:p>
            <a:endParaRPr lang="de-DE"/>
          </a:p>
          <a:p>
            <a:pPr>
              <a:buFontTx/>
              <a:buNone/>
            </a:pPr>
            <a:r>
              <a:rPr lang="de-DE" sz="5400"/>
              <a:t>Auf die Plätze,</a:t>
            </a:r>
            <a:br>
              <a:rPr lang="de-DE" sz="5400"/>
            </a:br>
            <a:r>
              <a:rPr lang="de-DE" sz="5400"/>
              <a:t>fertig…</a:t>
            </a:r>
          </a:p>
        </p:txBody>
      </p:sp>
      <p:pic>
        <p:nvPicPr>
          <p:cNvPr id="12292" name="Picture 4" descr="j021295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3789363"/>
            <a:ext cx="4062412" cy="255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de-DE" sz="2000"/>
              <a:t>Brauchen Sie Unterstützung </a:t>
            </a:r>
            <a:br>
              <a:rPr lang="de-DE" sz="2000"/>
            </a:br>
            <a:r>
              <a:rPr lang="de-DE" sz="2000"/>
              <a:t>bei .NET, </a:t>
            </a:r>
            <a:r>
              <a:rPr lang="de-DE" sz="2000" err="1"/>
              <a:t>SilverLight</a:t>
            </a:r>
            <a:r>
              <a:rPr lang="de-DE" sz="2000"/>
              <a:t>, SQL Server, SharePoint, Windows Server, BizTalk, </a:t>
            </a:r>
            <a:r>
              <a:rPr lang="de-DE" sz="2000" err="1"/>
              <a:t>CRM,u.v.a</a:t>
            </a:r>
            <a:r>
              <a:rPr lang="de-DE" sz="2000"/>
              <a:t>. Microsoft-Produkten?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de-DE" sz="2400"/>
              <a:t>Beratung bei Einführung, Migration und Betrieb</a:t>
            </a:r>
          </a:p>
          <a:p>
            <a:pPr eaLnBrk="1" hangingPunct="1"/>
            <a:r>
              <a:rPr lang="de-DE" sz="2400"/>
              <a:t>(Vor-Ort-)Schulungen, Workshops </a:t>
            </a:r>
          </a:p>
          <a:p>
            <a:pPr eaLnBrk="1" hangingPunct="1"/>
            <a:r>
              <a:rPr lang="de-DE" sz="2400"/>
              <a:t>Coaching (Vor-Ort | Telefon | E-Mail | Online-Meeting)</a:t>
            </a:r>
          </a:p>
          <a:p>
            <a:pPr eaLnBrk="1" hangingPunct="1"/>
            <a:r>
              <a:rPr lang="de-DE" sz="2400"/>
              <a:t>Support (Vor-Ort | Telefon | E-Mail | Online-Meeting)</a:t>
            </a:r>
          </a:p>
          <a:p>
            <a:pPr eaLnBrk="1" hangingPunct="1"/>
            <a:r>
              <a:rPr lang="de-DE" sz="2400"/>
              <a:t>Entwicklung von Prototypen und Lösung</a:t>
            </a:r>
          </a:p>
          <a:p>
            <a:pPr eaLnBrk="1" hangingPunct="1"/>
            <a:endParaRPr lang="de-DE" sz="2400"/>
          </a:p>
          <a:p>
            <a:pPr eaLnBrk="1" hangingPunct="1">
              <a:buFontTx/>
              <a:buNone/>
            </a:pPr>
            <a:r>
              <a:rPr lang="de-DE" sz="2400"/>
              <a:t>http://www.IT-Visions.de</a:t>
            </a:r>
          </a:p>
          <a:p>
            <a:pPr eaLnBrk="1" hangingPunct="1">
              <a:buFontTx/>
              <a:buNone/>
            </a:pPr>
            <a:r>
              <a:rPr lang="de-DE" sz="2400"/>
              <a:t>Telefon 0201/7490-700</a:t>
            </a:r>
          </a:p>
          <a:p>
            <a:pPr eaLnBrk="1" hangingPunct="1">
              <a:buFontTx/>
              <a:buNone/>
            </a:pPr>
            <a:r>
              <a:rPr lang="de-DE" sz="2400"/>
              <a:t>hs@IT-Visions.de</a:t>
            </a:r>
          </a:p>
        </p:txBody>
      </p:sp>
    </p:spTree>
    <p:extLst>
      <p:ext uri="{BB962C8B-B14F-4D97-AF65-F5344CB8AC3E}">
        <p14:creationId xmlns:p14="http://schemas.microsoft.com/office/powerpoint/2010/main" val="1570801610"/>
      </p:ext>
    </p:extLst>
  </p:cSld>
  <p:clrMapOvr>
    <a:masterClrMapping/>
  </p:clrMapOvr>
  <p:transition advClick="0" advTm="8000"/>
</p:sld>
</file>

<file path=ppt/theme/theme1.xml><?xml version="1.0" encoding="utf-8"?>
<a:theme xmlns:a="http://schemas.openxmlformats.org/drawingml/2006/main" name="www.IT-Visions.de">
  <a:themeElements>
    <a:clrScheme name="Präsentation IT-Objec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Präsentation IT-Object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800" b="0" i="0" u="none" strike="noStrike" cap="none" normalizeH="0" baseline="0" smtClean="0">
            <a:ln>
              <a:noFill/>
            </a:ln>
            <a:solidFill>
              <a:schemeClr val="bg1"/>
            </a:solidFill>
            <a:effectDag name="">
              <a:cont type="tree" name="">
                <a:effect ref="fillLine"/>
                <a:outerShdw dist="38100" dir="13500000" algn="br">
                  <a:schemeClr val="bg1">
                    <a:lumMod val="200000"/>
                    <a:satMod val="200000"/>
                  </a:schemeClr>
                </a:outerShdw>
              </a:cont>
              <a:cont type="tree" name="">
                <a:effect ref="fillLine"/>
                <a:outerShdw dist="38100" dir="2700000" algn="tl">
                  <a:schemeClr val="bg1">
                    <a:lumMod val="60000"/>
                    <a:satMod val="60000"/>
                  </a:schemeClr>
                </a:outerShdw>
              </a:cont>
              <a:effect ref="fillLine"/>
            </a:effectDag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800" b="0" i="0" u="none" strike="noStrike" cap="none" normalizeH="0" baseline="0" smtClean="0">
            <a:ln>
              <a:noFill/>
            </a:ln>
            <a:solidFill>
              <a:schemeClr val="bg1"/>
            </a:solidFill>
            <a:effectDag name="">
              <a:cont type="tree" name="">
                <a:effect ref="fillLine"/>
                <a:outerShdw dist="38100" dir="13500000" algn="br">
                  <a:schemeClr val="bg1">
                    <a:lumMod val="200000"/>
                    <a:satMod val="200000"/>
                  </a:schemeClr>
                </a:outerShdw>
              </a:cont>
              <a:cont type="tree" name="">
                <a:effect ref="fillLine"/>
                <a:outerShdw dist="38100" dir="2700000" algn="tl">
                  <a:schemeClr val="bg1">
                    <a:lumMod val="60000"/>
                    <a:satMod val="60000"/>
                  </a:schemeClr>
                </a:outerShdw>
              </a:cont>
              <a:effect ref="fillLine"/>
            </a:effectDag>
            <a:latin typeface="Tahoma" pitchFamily="34" charset="0"/>
          </a:defRPr>
        </a:defPPr>
      </a:lstStyle>
    </a:lnDef>
  </a:objectDefaults>
  <a:extraClrSchemeLst>
    <a:extraClrScheme>
      <a:clrScheme name="Präsentation IT-Objec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 IT-Object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äsentation IT-Object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 IT-Object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 IT-Object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 IT-Object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 IT-Object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ITV</Template>
  <TotalTime>0</TotalTime>
  <Words>497</Words>
  <Application>Microsoft Office PowerPoint</Application>
  <PresentationFormat>Bildschirmpräsentation (4:3)</PresentationFormat>
  <Paragraphs>117</Paragraphs>
  <Slides>12</Slides>
  <Notes>11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ＭＳ Ｐゴシック</vt:lpstr>
      <vt:lpstr>Arial</vt:lpstr>
      <vt:lpstr>Tahoma</vt:lpstr>
      <vt:lpstr>Times New Roman</vt:lpstr>
      <vt:lpstr>Wingdings</vt:lpstr>
      <vt:lpstr>www.IT-Visions.de</vt:lpstr>
      <vt:lpstr> JENOPTIK Industrial Metrology Germany GmbH   WPF</vt:lpstr>
      <vt:lpstr>Über uns www.IT-Visions.de</vt:lpstr>
      <vt:lpstr>Referentenvorstellung</vt:lpstr>
      <vt:lpstr>Veröffentlichungen</vt:lpstr>
      <vt:lpstr>Vorstellungsrunde</vt:lpstr>
      <vt:lpstr>Standard-Seminarzeiten</vt:lpstr>
      <vt:lpstr>Standard-Seminarzeiten</vt:lpstr>
      <vt:lpstr>Standard-Seminarzeiten</vt:lpstr>
      <vt:lpstr>Schulungs-FAQ</vt:lpstr>
      <vt:lpstr>Noch irgendwas unklar?</vt:lpstr>
      <vt:lpstr>Ok, dann:</vt:lpstr>
      <vt:lpstr>Brauchen Sie Unterstützung  bei .NET, SilverLight, SQL Server, SharePoint, Windows Server, BizTalk, CRM,u.v.a. Microsoft-Produkten?</vt:lpstr>
    </vt:vector>
  </TitlesOfParts>
  <Company>www.IT-Visions.de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Thema Untertitel</dc:title>
  <dc:creator>Dr. Holger Schwichtenberg</dc:creator>
  <cp:lastModifiedBy>Joachim Fuchs</cp:lastModifiedBy>
  <cp:revision>11</cp:revision>
  <dcterms:created xsi:type="dcterms:W3CDTF">2007-07-20T07:41:41Z</dcterms:created>
  <dcterms:modified xsi:type="dcterms:W3CDTF">2026-07-07T20:33:12Z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Eigentümer">
    <vt:lpwstr>www.IT-Visions.de</vt:lpwstr>
  </property>
  <property fmtid="{D5CDD505-2E9C-101B-9397-08002B2CF9AE}" pid="3" name="Gegenstand">
    <vt:lpwstr>www.IT-Visions.de</vt:lpwstr>
  </property>
  <property fmtid="{D5CDD505-2E9C-101B-9397-08002B2CF9AE}" pid="4" name="Erstellt von">
    <vt:lpwstr>www.IT-Visions.de</vt:lpwstr>
  </property>
  <property fmtid="{D5CDD505-2E9C-101B-9397-08002B2CF9AE}" pid="5" name="Abteilung">
    <vt:lpwstr>www.IT-Visions.de</vt:lpwstr>
  </property>
  <property fmtid="{D5CDD505-2E9C-101B-9397-08002B2CF9AE}" pid="6" name="Kunde">
    <vt:lpwstr>www.IT-Visions.de</vt:lpwstr>
  </property>
  <property fmtid="{D5CDD505-2E9C-101B-9397-08002B2CF9AE}" pid="7" name="Verleger">
    <vt:lpwstr>www.IT-Visions.de</vt:lpwstr>
  </property>
</Properties>
</file>